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58" r:id="rId3"/>
    <p:sldId id="259" r:id="rId4"/>
    <p:sldId id="260" r:id="rId5"/>
    <p:sldId id="261" r:id="rId6"/>
    <p:sldId id="27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dharsan sudha" userId="3d3d041425628171" providerId="LiveId" clId="{701EB56C-5456-4E45-B90F-675FC26DB7DA}"/>
    <pc:docChg chg="modSld">
      <pc:chgData name="sudharsan sudha" userId="3d3d041425628171" providerId="LiveId" clId="{701EB56C-5456-4E45-B90F-675FC26DB7DA}" dt="2026-07-21T05:49:46.175" v="4" actId="1076"/>
      <pc:docMkLst>
        <pc:docMk/>
      </pc:docMkLst>
      <pc:sldChg chg="modSp mod">
        <pc:chgData name="sudharsan sudha" userId="3d3d041425628171" providerId="LiveId" clId="{701EB56C-5456-4E45-B90F-675FC26DB7DA}" dt="2026-07-21T05:49:46.175" v="4" actId="1076"/>
        <pc:sldMkLst>
          <pc:docMk/>
          <pc:sldMk cId="0" sldId="257"/>
        </pc:sldMkLst>
        <pc:spChg chg="mod">
          <ac:chgData name="sudharsan sudha" userId="3d3d041425628171" providerId="LiveId" clId="{701EB56C-5456-4E45-B90F-675FC26DB7DA}" dt="2026-07-21T05:49:46.175" v="4" actId="1076"/>
          <ac:spMkLst>
            <pc:docMk/>
            <pc:sldMk cId="0" sldId="257"/>
            <ac:spMk id="6" creationId="{00000000-0000-0000-0000-000000000000}"/>
          </ac:spMkLst>
        </pc:spChg>
        <pc:spChg chg="mod">
          <ac:chgData name="sudharsan sudha" userId="3d3d041425628171" providerId="LiveId" clId="{701EB56C-5456-4E45-B90F-675FC26DB7DA}" dt="2026-07-21T05:49:38.560" v="2" actId="1076"/>
          <ac:spMkLst>
            <pc:docMk/>
            <pc:sldMk cId="0" sldId="257"/>
            <ac:spMk id="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5C6FDC-4858-4EFD-91B1-C0DAD34F8031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9B0CAC-F3C6-44BA-B2A4-841260C758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816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39B15-7AD6-46D1-94D9-23BC94931ED9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65404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23" name="Google Shape;22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D83E4-9942-DEB2-E969-587BA13E55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2CCCD4-CF19-F89D-DA0A-57EA467F2E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950AD3-B761-AFB0-A73A-798B1A417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04C1F-8BB8-4F41-A2FF-363B3B078B2C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103E23-B7FB-CDC7-3F4F-99389C133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C1D4B4-3448-6B90-C754-5D85A83CF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84352-0EEC-4E4B-802B-AFB646B3DA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4967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869FB-129C-1880-9C7A-D590744C1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09C1B-C5A3-2C74-B39A-533ACDCD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A06C4F-AD60-4682-4095-131FD4D43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04C1F-8BB8-4F41-A2FF-363B3B078B2C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A4D53A-1D92-0C73-C7CC-DD604147E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A21A13-8AF4-1CD8-3EFD-B5B42655F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84352-0EEC-4E4B-802B-AFB646B3DA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2925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6FEDE-3785-5072-E896-68327792C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1896E-A11C-6824-76AB-FE83B38269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12068F-771E-00B2-8680-3123EA54B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04C1F-8BB8-4F41-A2FF-363B3B078B2C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1FC072-FBAA-D1D6-2F7F-A63571AEC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082D1-01B7-84C1-101D-32EBD1DAD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84352-0EEC-4E4B-802B-AFB646B3DA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3975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0BB4B-D878-1719-ABD7-DE11908A4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3D30F-0030-708E-6889-90679E89B2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111762-E74E-73A7-91AF-7B529EC9C1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22623E-3256-A6C4-B52F-8EB14BD2C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04C1F-8BB8-4F41-A2FF-363B3B078B2C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284BC4-8094-44C5-58F4-9456E02C9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38EF87-2D23-B7BB-7FA1-8B74DD088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84352-0EEC-4E4B-802B-AFB646B3DA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261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A1F82-1BE4-7AAC-7723-7364C7003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4D0962-579B-92DB-88E3-0FB01696A0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680A51-485A-F792-8B46-C9C9826C2E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4ADA88-7C87-A325-62C2-9C4D5A593D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2F09F2-1FB2-E9D3-C94F-1605D85513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DFB25E-CD18-622F-269A-51DEC0E5B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04C1F-8BB8-4F41-A2FF-363B3B078B2C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531E89-FA56-E2BB-0B82-C795BA213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80E4E7-E19B-9D17-0BB4-1A44FD064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84352-0EEC-4E4B-802B-AFB646B3DA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8041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0297F-DD2E-8024-A7DA-5B73BB711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685ED8-A95A-33CC-0762-4206248F0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04C1F-8BB8-4F41-A2FF-363B3B078B2C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95CDB1-D0F2-9F35-A481-270B33841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EB1977-1024-79F7-5300-C2BD03508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84352-0EEC-4E4B-802B-AFB646B3DA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4745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A8CC20-2419-0060-12A6-EAB069139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04C1F-8BB8-4F41-A2FF-363B3B078B2C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BC4514-3A42-991E-D7B1-70FD95A66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8AAA40-9E23-1547-A3B5-90513C09B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84352-0EEC-4E4B-802B-AFB646B3DA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3480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88595-4CDD-5BA1-834C-86A1B7910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64DDF-F665-7788-5273-4BD4330D9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0EF282-C284-3DF1-CB8E-77AC1367EC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5D31CA-6F61-FF92-EDA1-F79B7F4F6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04C1F-8BB8-4F41-A2FF-363B3B078B2C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482A73-28E4-0A77-B011-2A1DF2E02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17A760-24FE-40E6-AE95-169707F72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84352-0EEC-4E4B-802B-AFB646B3DA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2984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1EDEE-9008-EF98-99A2-87500D910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2EC539-C789-1693-291A-F0B4BF0EF5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F16460-8791-B36E-871B-E12A036DEE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5D8CBB-6D35-0CF9-3FE6-0EF4F2BB5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04C1F-8BB8-4F41-A2FF-363B3B078B2C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96D74F-A87C-3CCD-DD7B-64AC70CDA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6E9D96-198B-7F9D-F0AA-E29E80C79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84352-0EEC-4E4B-802B-AFB646B3DA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3979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E3476-71B9-9ECA-0628-E5062FA79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09A258-5860-6382-A08F-78528F4346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614101-FD49-2AF6-7DDB-988DC7E68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04C1F-8BB8-4F41-A2FF-363B3B078B2C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D64EC1-F7AE-D9AD-EFD7-8FB971D17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5F552F-09BF-71F5-DA9D-41DF302FA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84352-0EEC-4E4B-802B-AFB646B3DA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5078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748BF0-A4E5-7748-3FCC-870B16996E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92589F-2760-DB79-B25E-102E025D5B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4175CE-D13C-32E6-5D7F-7F3A96FD9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04C1F-8BB8-4F41-A2FF-363B3B078B2C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CA7A8-04EE-2AD2-B485-2188EB79A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0EFEF-498F-C61F-BF2D-0816BE8CA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84352-0EEC-4E4B-802B-AFB646B3DA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411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5BD95B-10AF-513E-8C03-0EE193AF0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00224C-C184-A025-A109-394CF7421C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B90A26-603F-2C3C-8A5A-D1C6362065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404C1F-8BB8-4F41-A2FF-363B3B078B2C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2B455D-A6FA-B008-DC02-8DBE554115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A3C4C-3561-38E9-15E6-1930FB52CE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084352-0EEC-4E4B-802B-AFB646B3DA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6811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1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586" y="786176"/>
            <a:ext cx="9354312" cy="10149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-262360" y="3485189"/>
            <a:ext cx="121889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dirty="0">
                <a:solidFill>
                  <a:schemeClr val="accent1"/>
                </a:solidFill>
                <a:latin typeface="Times New Roman"/>
              </a:rPr>
              <a:t>	</a:t>
            </a:r>
            <a:r>
              <a:rPr lang="en-US" sz="3200" b="1" dirty="0">
                <a:solidFill>
                  <a:schemeClr val="accent1"/>
                </a:solidFill>
                <a:latin typeface="Times New Roman"/>
              </a:rPr>
              <a:t>Phases Of Compiler and Their Roles</a:t>
            </a:r>
            <a:endParaRPr sz="3200" b="1" dirty="0">
              <a:solidFill>
                <a:schemeClr val="accent1"/>
              </a:solidFill>
              <a:latin typeface="Times New Roman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6063" y="4943723"/>
            <a:ext cx="4114800" cy="1421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2000" b="1" dirty="0">
                <a:solidFill>
                  <a:srgbClr val="002060"/>
                </a:solidFill>
                <a:latin typeface="Times New Roman"/>
              </a:rPr>
              <a:t>UNDER THE</a:t>
            </a:r>
            <a:r>
              <a:rPr lang="en-IN" sz="2000" b="1" dirty="0">
                <a:solidFill>
                  <a:srgbClr val="002060"/>
                </a:solidFill>
                <a:latin typeface="Times New Roman"/>
              </a:rPr>
              <a:t> </a:t>
            </a:r>
            <a:r>
              <a:rPr lang="en-IN" sz="20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GUIDANCE</a:t>
            </a:r>
            <a:r>
              <a:rPr lang="en-IN" sz="2000" b="1" dirty="0">
                <a:solidFill>
                  <a:schemeClr val="tx2">
                    <a:lumMod val="75000"/>
                  </a:schemeClr>
                </a:solidFill>
                <a:latin typeface="Times New Roman"/>
              </a:rPr>
              <a:t> </a:t>
            </a:r>
            <a:r>
              <a:rPr sz="2000" b="1" dirty="0">
                <a:solidFill>
                  <a:srgbClr val="002060"/>
                </a:solidFill>
                <a:latin typeface="Times New Roman"/>
              </a:rPr>
              <a:t>OF:</a:t>
            </a:r>
            <a:endParaRPr lang="en-US" sz="2000" dirty="0">
              <a:solidFill>
                <a:srgbClr val="2B2B2B"/>
              </a:solidFill>
              <a:latin typeface="Times New Roman"/>
            </a:endParaRPr>
          </a:p>
          <a:p>
            <a:pPr>
              <a:lnSpc>
                <a:spcPct val="150000"/>
              </a:lnSpc>
            </a:pPr>
            <a:r>
              <a:rPr lang="en-US" sz="2000" b="1" dirty="0" err="1">
                <a:solidFill>
                  <a:srgbClr val="2B2B2B"/>
                </a:solidFill>
                <a:latin typeface="Times New Roman"/>
              </a:rPr>
              <a:t>Dr.S.SIVAGAMI</a:t>
            </a:r>
            <a:endParaRPr sz="2000" b="1" dirty="0">
              <a:solidFill>
                <a:srgbClr val="2B2B2B"/>
              </a:solidFill>
              <a:latin typeface="Times New Roman"/>
            </a:endParaRPr>
          </a:p>
          <a:p>
            <a:pPr>
              <a:lnSpc>
                <a:spcPct val="150000"/>
              </a:lnSpc>
            </a:pPr>
            <a:r>
              <a:rPr sz="2000" dirty="0">
                <a:solidFill>
                  <a:srgbClr val="2B2B2B"/>
                </a:solidFill>
                <a:latin typeface="Times New Roman"/>
              </a:rPr>
              <a:t>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12990" y="5042997"/>
            <a:ext cx="5239512" cy="96032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sz="2000" b="1" dirty="0">
                <a:solidFill>
                  <a:srgbClr val="002060"/>
                </a:solidFill>
                <a:latin typeface="Times New Roman"/>
              </a:rPr>
              <a:t>PRESENTED BY:</a:t>
            </a:r>
            <a:endParaRPr lang="en-US" sz="2000" b="1" dirty="0">
              <a:solidFill>
                <a:srgbClr val="2B2B2B"/>
              </a:solidFill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2B2B2B"/>
                </a:solidFill>
                <a:latin typeface="Times New Roman"/>
                <a:cs typeface="Times New Roman"/>
              </a:rPr>
              <a:t>SUDHARSAN D -(192524063)</a:t>
            </a:r>
            <a:endParaRPr sz="2000" b="1" dirty="0">
              <a:solidFill>
                <a:srgbClr val="2B2B2B"/>
              </a:solidFill>
              <a:latin typeface="Times New Roman"/>
              <a:cs typeface="Times New Roman"/>
            </a:endParaRPr>
          </a:p>
        </p:txBody>
      </p:sp>
      <p:sp>
        <p:nvSpPr>
          <p:cNvPr id="10" name="Google Shape;90;p1">
            <a:extLst>
              <a:ext uri="{FF2B5EF4-FFF2-40B4-BE49-F238E27FC236}">
                <a16:creationId xmlns:a16="http://schemas.microsoft.com/office/drawing/2014/main" id="{2C7597B8-F2E8-89EE-F914-91CFA58C1B61}"/>
              </a:ext>
            </a:extLst>
          </p:cNvPr>
          <p:cNvSpPr txBox="1"/>
          <p:nvPr/>
        </p:nvSpPr>
        <p:spPr>
          <a:xfrm>
            <a:off x="1231980" y="2181509"/>
            <a:ext cx="920027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indent="46990" algn="ctr">
              <a:lnSpc>
                <a:spcPct val="150000"/>
              </a:lnSpc>
              <a:buClr>
                <a:srgbClr val="000000"/>
              </a:buClr>
              <a:buSzPts val="2400"/>
            </a:pPr>
            <a:r>
              <a:rPr lang="en-US" sz="2400" b="1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TECHNICAL PROJECT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CSA1405: Compiler Design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1_img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9566" y="265177"/>
            <a:ext cx="9113654" cy="9004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43257" y="2646535"/>
            <a:ext cx="7807067" cy="46326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Compiler converts source code into machine code.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Compilation is performed in multiple phases.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phase has a specific role.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and reports program errors.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code efficiency through optimization.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executable machine code</a:t>
            </a:r>
            <a:r>
              <a:rPr lang="en-IN" sz="2800" dirty="0"/>
              <a:t>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IN" sz="3200" dirty="0"/>
          </a:p>
        </p:txBody>
      </p:sp>
      <p:sp>
        <p:nvSpPr>
          <p:cNvPr id="6" name="Google Shape;112;p4">
            <a:extLst>
              <a:ext uri="{FF2B5EF4-FFF2-40B4-BE49-F238E27FC236}">
                <a16:creationId xmlns:a16="http://schemas.microsoft.com/office/drawing/2014/main" id="{93EA1D51-0100-299A-D00A-7A1624667112}"/>
              </a:ext>
            </a:extLst>
          </p:cNvPr>
          <p:cNvSpPr txBox="1"/>
          <p:nvPr/>
        </p:nvSpPr>
        <p:spPr>
          <a:xfrm>
            <a:off x="1123889" y="1613544"/>
            <a:ext cx="10185009" cy="685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4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None/>
            </a:pPr>
            <a:endParaRPr lang="en-IN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8C1D2A-2B96-D59B-13DC-F06C87F96F61}"/>
              </a:ext>
            </a:extLst>
          </p:cNvPr>
          <p:cNvSpPr txBox="1"/>
          <p:nvPr/>
        </p:nvSpPr>
        <p:spPr>
          <a:xfrm>
            <a:off x="4608818" y="1591458"/>
            <a:ext cx="32151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000" b="1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1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8908" y="265176"/>
            <a:ext cx="9354312" cy="10149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80510" y="2736284"/>
            <a:ext cx="9911091" cy="3605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200"/>
              </a:spcBef>
              <a:spcAft>
                <a:spcPts val="500"/>
              </a:spcAft>
              <a:buFont typeface="Wingdings" panose="05000000000000000000" pitchFamily="2" charset="2"/>
              <a:buChar char="v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phase of the compiler. Converts source code into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spcBef>
                <a:spcPts val="200"/>
              </a:spcBef>
              <a:spcAft>
                <a:spcPts val="500"/>
              </a:spcAft>
              <a:buFont typeface="Wingdings" panose="05000000000000000000" pitchFamily="2" charset="2"/>
              <a:buChar char="v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Removes unnecessary spaces, tabs, and comments. </a:t>
            </a:r>
          </a:p>
          <a:p>
            <a:pPr marL="342900" indent="-342900">
              <a:lnSpc>
                <a:spcPct val="150000"/>
              </a:lnSpc>
              <a:spcBef>
                <a:spcPts val="200"/>
              </a:spcBef>
              <a:spcAft>
                <a:spcPts val="500"/>
              </a:spcAft>
              <a:buFont typeface="Wingdings" panose="05000000000000000000" pitchFamily="2" charset="2"/>
              <a:buChar char="v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keywords, identifiers, operators, and constants. </a:t>
            </a:r>
          </a:p>
          <a:p>
            <a:pPr marL="342900" indent="-342900">
              <a:lnSpc>
                <a:spcPct val="150000"/>
              </a:lnSpc>
              <a:spcBef>
                <a:spcPts val="200"/>
              </a:spcBef>
              <a:spcAft>
                <a:spcPts val="500"/>
              </a:spcAft>
              <a:buFont typeface="Wingdings" panose="05000000000000000000" pitchFamily="2" charset="2"/>
              <a:buChar char="v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Lexical Analyzer (LEX)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token recognition. </a:t>
            </a:r>
          </a:p>
          <a:p>
            <a:pPr marL="342900" indent="-342900">
              <a:lnSpc>
                <a:spcPct val="150000"/>
              </a:lnSpc>
              <a:spcBef>
                <a:spcPts val="200"/>
              </a:spcBef>
              <a:spcAft>
                <a:spcPts val="500"/>
              </a:spcAft>
              <a:buFont typeface="Wingdings" panose="05000000000000000000" pitchFamily="2" charset="2"/>
              <a:buChar char="v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Sends tokens to the next phase (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 Analysis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sz="2800" dirty="0">
              <a:solidFill>
                <a:srgbClr val="2B2B2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Google Shape;112;p4">
            <a:extLst>
              <a:ext uri="{FF2B5EF4-FFF2-40B4-BE49-F238E27FC236}">
                <a16:creationId xmlns:a16="http://schemas.microsoft.com/office/drawing/2014/main" id="{1033CFCE-F1FC-674A-D59E-CD55BD922CFF}"/>
              </a:ext>
            </a:extLst>
          </p:cNvPr>
          <p:cNvSpPr txBox="1"/>
          <p:nvPr/>
        </p:nvSpPr>
        <p:spPr>
          <a:xfrm>
            <a:off x="1143552" y="1665322"/>
            <a:ext cx="10185009" cy="685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Lexical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1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9473" y="134547"/>
            <a:ext cx="9354312" cy="10149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5AA1502-72B3-CE5E-6703-50E090E2E7E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549472" y="2064133"/>
            <a:ext cx="9354312" cy="4659321"/>
          </a:xfrm>
          <a:prstGeom prst="rect">
            <a:avLst/>
          </a:prstGeom>
        </p:spPr>
      </p:pic>
      <p:sp>
        <p:nvSpPr>
          <p:cNvPr id="10" name="Google Shape;112;p4">
            <a:extLst>
              <a:ext uri="{FF2B5EF4-FFF2-40B4-BE49-F238E27FC236}">
                <a16:creationId xmlns:a16="http://schemas.microsoft.com/office/drawing/2014/main" id="{865AB26E-4E64-D860-6754-10B86DA092EF}"/>
              </a:ext>
            </a:extLst>
          </p:cNvPr>
          <p:cNvSpPr txBox="1"/>
          <p:nvPr/>
        </p:nvSpPr>
        <p:spPr>
          <a:xfrm>
            <a:off x="1134125" y="1263931"/>
            <a:ext cx="10185009" cy="685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Syntax and Semantic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1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8908" y="265176"/>
            <a:ext cx="9354312" cy="10149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66200" y="2521384"/>
            <a:ext cx="8845221" cy="3892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Compiler converts source code into machine code.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compiler phase has a specific role.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 analysis checks grammar.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analysis checks meaning and correctness.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generation produces executable machine code.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phases work together for efficient program execution.</a:t>
            </a:r>
          </a:p>
        </p:txBody>
      </p:sp>
      <p:sp>
        <p:nvSpPr>
          <p:cNvPr id="6" name="Google Shape;112;p4">
            <a:extLst>
              <a:ext uri="{FF2B5EF4-FFF2-40B4-BE49-F238E27FC236}">
                <a16:creationId xmlns:a16="http://schemas.microsoft.com/office/drawing/2014/main" id="{1EE58E7C-1660-8FAF-7274-96A50288753B}"/>
              </a:ext>
            </a:extLst>
          </p:cNvPr>
          <p:cNvSpPr txBox="1"/>
          <p:nvPr/>
        </p:nvSpPr>
        <p:spPr>
          <a:xfrm>
            <a:off x="1096307" y="1508710"/>
            <a:ext cx="10185009" cy="685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17" descr="Thank you card with watercolor floral frame in romantic blue | Premium PS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88" y="895"/>
            <a:ext cx="12188824" cy="68562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176</Words>
  <Application>Microsoft Office PowerPoint</Application>
  <PresentationFormat>Widescreen</PresentationFormat>
  <Paragraphs>30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sudharsan sudha</dc:creator>
  <cp:lastModifiedBy>sudharsan sudha</cp:lastModifiedBy>
  <cp:revision>1</cp:revision>
  <dcterms:created xsi:type="dcterms:W3CDTF">2026-07-21T05:29:55Z</dcterms:created>
  <dcterms:modified xsi:type="dcterms:W3CDTF">2026-07-21T05:49:47Z</dcterms:modified>
</cp:coreProperties>
</file>